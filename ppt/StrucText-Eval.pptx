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74" r:id="rId3"/>
    <p:sldId id="258" r:id="rId4"/>
    <p:sldId id="259" r:id="rId5"/>
    <p:sldId id="260" r:id="rId6"/>
    <p:sldId id="308" r:id="rId7"/>
    <p:sldId id="275" r:id="rId8"/>
    <p:sldId id="261" r:id="rId9"/>
    <p:sldId id="293" r:id="rId10"/>
    <p:sldId id="262" r:id="rId11"/>
    <p:sldId id="295" r:id="rId13"/>
    <p:sldId id="305" r:id="rId14"/>
    <p:sldId id="263" r:id="rId15"/>
    <p:sldId id="266" r:id="rId16"/>
    <p:sldId id="269" r:id="rId17"/>
    <p:sldId id="306" r:id="rId18"/>
    <p:sldId id="270" r:id="rId19"/>
    <p:sldId id="271" r:id="rId20"/>
    <p:sldId id="272" r:id="rId21"/>
    <p:sldId id="309" r:id="rId22"/>
    <p:sldId id="273" r:id="rId23"/>
  </p:sldIdLst>
  <p:sldSz cx="12191365" cy="6858000" type="screen4x3"/>
  <p:notesSz cx="6858000" cy="9144000"/>
  <p:custDataLst>
    <p:tags r:id="rId2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123" initials="1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5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3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 userDrawn="1"/>
        </p:nvPicPr>
        <p:blipFill rotWithShape="1">
          <a:blip r:embed="rId2" cstate="hqprint">
            <a:alphaModFix amt="50000"/>
          </a:blip>
          <a:srcRect/>
          <a:stretch>
            <a:fillRect/>
          </a:stretch>
        </p:blipFill>
        <p:spPr>
          <a:xfrm>
            <a:off x="-38762" y="-1"/>
            <a:ext cx="12239363" cy="6858001"/>
          </a:xfrm>
          <a:prstGeom prst="rect">
            <a:avLst/>
          </a:prstGeom>
        </p:spPr>
      </p:pic>
      <p:sp>
        <p:nvSpPr>
          <p:cNvPr id="21" name="矩形 20"/>
          <p:cNvSpPr/>
          <p:nvPr userDrawn="1"/>
        </p:nvSpPr>
        <p:spPr>
          <a:xfrm>
            <a:off x="-38762" y="3289061"/>
            <a:ext cx="12230127" cy="2977391"/>
          </a:xfrm>
          <a:prstGeom prst="rect">
            <a:avLst/>
          </a:prstGeom>
          <a:solidFill>
            <a:schemeClr val="accent5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标题 21"/>
          <p:cNvSpPr>
            <a:spLocks noGrp="1"/>
          </p:cNvSpPr>
          <p:nvPr>
            <p:ph type="title"/>
          </p:nvPr>
        </p:nvSpPr>
        <p:spPr>
          <a:xfrm>
            <a:off x="1820038" y="3845650"/>
            <a:ext cx="8512526" cy="756954"/>
          </a:xfrm>
        </p:spPr>
        <p:txBody>
          <a:bodyPr/>
          <a:lstStyle>
            <a:lvl1pPr algn="ctr"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7" name="内容占位符 2"/>
          <p:cNvSpPr>
            <a:spLocks noGrp="1"/>
          </p:cNvSpPr>
          <p:nvPr>
            <p:ph idx="13"/>
          </p:nvPr>
        </p:nvSpPr>
        <p:spPr>
          <a:xfrm>
            <a:off x="3790420" y="5150365"/>
            <a:ext cx="4571762" cy="56832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dirty="0"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16472" y="151210"/>
            <a:ext cx="2362077" cy="486112"/>
          </a:xfrm>
          <a:prstGeom prst="rect">
            <a:avLst/>
          </a:prstGeom>
        </p:spPr>
      </p:pic>
      <p:pic>
        <p:nvPicPr>
          <p:cNvPr id="4" name="图片 3" descr="微信图片_2023110221100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692697" y="41275"/>
            <a:ext cx="3323417" cy="59626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.xml"/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.xml"/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06880" y="1567815"/>
            <a:ext cx="8778240" cy="2927985"/>
          </a:xfrm>
        </p:spPr>
        <p:txBody>
          <a:bodyPr>
            <a:normAutofit/>
          </a:bodyPr>
          <a:lstStyle/>
          <a:p>
            <a:r>
              <a:rPr b="1">
                <a:solidFill>
                  <a:schemeClr val="bg1"/>
                </a:solidFill>
              </a:rPr>
              <a:t>StrucText-Eval: Evaluating Large Language Model’s Reasoning Ability in</a:t>
            </a:r>
            <a:br>
              <a:rPr b="1">
                <a:solidFill>
                  <a:schemeClr val="bg1"/>
                </a:solidFill>
              </a:rPr>
            </a:br>
            <a:r>
              <a:rPr b="1">
                <a:solidFill>
                  <a:schemeClr val="bg1"/>
                </a:solidFill>
              </a:rPr>
              <a:t>Structure-Rich Text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29960" y="5286278"/>
            <a:ext cx="406378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汇报人：程晓军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68185" y="5286278"/>
            <a:ext cx="406378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汇报日期：</a:t>
            </a:r>
            <a:r>
              <a:rPr lang="en-US" altLang="zh-CN">
                <a:solidFill>
                  <a:schemeClr val="bg1"/>
                </a:solidFill>
              </a:rPr>
              <a:t>2026</a:t>
            </a:r>
            <a:r>
              <a:rPr lang="zh-CN" altLang="en-US">
                <a:solidFill>
                  <a:schemeClr val="bg1"/>
                </a:solidFill>
              </a:rPr>
              <a:t>年</a:t>
            </a:r>
            <a:r>
              <a:rPr lang="en-US" altLang="zh-CN">
                <a:solidFill>
                  <a:schemeClr val="bg1"/>
                </a:solidFill>
              </a:rPr>
              <a:t>5</a:t>
            </a:r>
            <a:r>
              <a:rPr lang="zh-CN" altLang="en-US">
                <a:solidFill>
                  <a:schemeClr val="bg1"/>
                </a:solidFill>
              </a:rPr>
              <a:t>月</a:t>
            </a:r>
            <a:r>
              <a:rPr lang="en-US" altLang="zh-CN">
                <a:solidFill>
                  <a:schemeClr val="bg1"/>
                </a:solidFill>
              </a:rPr>
              <a:t>6</a:t>
            </a:r>
            <a:r>
              <a:rPr lang="zh-CN" altLang="en-US">
                <a:solidFill>
                  <a:schemeClr val="bg1"/>
                </a:solidFill>
              </a:rPr>
              <a:t>日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774046" y="330996"/>
            <a:ext cx="406378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585845" y="4463415"/>
            <a:ext cx="5019040" cy="430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defRPr sz="2000">
                <a:solidFill>
                  <a:srgbClr val="323232"/>
                </a:solidFill>
              </a:defRPr>
            </a:pPr>
            <a:r>
              <a:rPr>
                <a:sym typeface="+mn-ea"/>
              </a:rPr>
              <a:t>复旦大学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ACL 2025</a:t>
            </a:r>
            <a:endParaRPr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626215" y="4906645"/>
            <a:ext cx="4064000" cy="331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305415" y="409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949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zh-CN"/>
              <a:t>摘要</a:t>
            </a:r>
            <a:endParaRPr lang="zh-CN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488930" cy="526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23232"/>
                </a:solidFill>
              </a:defRPr>
            </a:pPr>
            <a:r>
              <a:rPr b="1">
                <a:solidFill>
                  <a:srgbClr val="FF0000"/>
                </a:solidFill>
              </a:rPr>
              <a:t>问题</a:t>
            </a:r>
            <a:r>
              <a:t>：LLM 能否直接以非结构化形式解读结构化数据？</a:t>
            </a:r>
          </a:p>
          <a:p>
            <a:pPr algn="l">
              <a:defRPr sz="2000">
                <a:solidFill>
                  <a:srgbClr val="323232"/>
                </a:solidFill>
              </a:defRPr>
            </a:pPr>
          </a:p>
          <a:p>
            <a:pPr algn="l">
              <a:defRPr sz="2000">
                <a:solidFill>
                  <a:srgbClr val="323232"/>
                </a:solidFill>
              </a:defRPr>
            </a:pPr>
            <a:r>
              <a:rPr b="1">
                <a:solidFill>
                  <a:srgbClr val="FF0000"/>
                </a:solidFill>
              </a:rPr>
              <a:t>提出</a:t>
            </a:r>
            <a:r>
              <a:rPr lang="zh-CN"/>
              <a:t>：</a:t>
            </a:r>
            <a:r>
              <a:t>一种自动生成评估数据的方法，用于评估 LLM 在结构丰富文本上的推理能力。</a:t>
            </a:r>
          </a:p>
          <a:p>
            <a:pPr algn="l">
              <a:defRPr sz="2000">
                <a:solidFill>
                  <a:srgbClr val="323232"/>
                </a:solidFill>
              </a:defRPr>
            </a:pPr>
            <a:r>
              <a:t>支持8种结构化语言和29项任务，通过可控的嵌套和结构宽度生成具有可调节复杂度的数据</a:t>
            </a:r>
            <a:r>
              <a:rPr lang="zh-CN"/>
              <a:t>。</a:t>
            </a:r>
          </a:p>
          <a:p>
            <a:pPr algn="l">
              <a:defRPr sz="2000">
                <a:solidFill>
                  <a:srgbClr val="323232"/>
                </a:solidFill>
              </a:defRPr>
            </a:pPr>
          </a:p>
          <a:p>
            <a:pPr algn="l">
              <a:defRPr sz="2000">
                <a:solidFill>
                  <a:srgbClr val="323232"/>
                </a:solidFill>
              </a:defRPr>
            </a:pPr>
            <a:r>
              <a:rPr lang="zh-CN" b="1">
                <a:solidFill>
                  <a:srgbClr val="FF0000"/>
                </a:solidFill>
                <a:sym typeface="+mn-ea"/>
              </a:rPr>
              <a:t>引入</a:t>
            </a:r>
            <a:r>
              <a:rPr lang="zh-CN">
                <a:sym typeface="+mn-ea"/>
              </a:rPr>
              <a:t>：</a:t>
            </a:r>
            <a:r>
              <a:t> StrucText-Eval，这是一个包含 5,800 个预生成和标注样本的基准测试，</a:t>
            </a:r>
          </a:p>
          <a:p>
            <a:pPr algn="l">
              <a:defRPr sz="2000">
                <a:solidFill>
                  <a:srgbClr val="323232"/>
                </a:solidFill>
              </a:defRPr>
            </a:pPr>
            <a:r>
              <a:t>旨在评估 LLM 理解和推理结构化文本的能力。StrucText-Eval 分为两个套件：</a:t>
            </a:r>
          </a:p>
          <a:p>
            <a:pPr algn="l">
              <a:defRPr sz="2000">
                <a:solidFill>
                  <a:srgbClr val="323232"/>
                </a:solidFill>
              </a:defRPr>
            </a:pPr>
            <a:r>
              <a:t>常规测试套件 (Test suite)：包含 3,712 个样本。</a:t>
            </a:r>
          </a:p>
          <a:p>
            <a:pPr algn="l">
              <a:defRPr sz="2000">
                <a:solidFill>
                  <a:srgbClr val="323232"/>
                </a:solidFill>
              </a:defRPr>
            </a:pPr>
            <a:r>
              <a:t>困难测试套件 (Test-Hard suite)：包含 2,088 个样本，</a:t>
            </a:r>
          </a:p>
          <a:p>
            <a:pPr algn="l">
              <a:defRPr sz="2000">
                <a:solidFill>
                  <a:srgbClr val="323232"/>
                </a:solidFill>
              </a:defRPr>
            </a:pPr>
            <a:r>
              <a:t>侧重于展示人类与模型在更复杂任务上的性能差距。</a:t>
            </a:r>
          </a:p>
          <a:p>
            <a:pPr algn="l">
              <a:defRPr sz="2000">
                <a:solidFill>
                  <a:srgbClr val="323232"/>
                </a:solidFill>
              </a:defRPr>
            </a:pPr>
          </a:p>
          <a:p>
            <a:pPr algn="l">
              <a:defRPr sz="2000">
                <a:solidFill>
                  <a:srgbClr val="323232"/>
                </a:solidFill>
              </a:defRPr>
            </a:pPr>
            <a:r>
              <a:rPr b="1">
                <a:solidFill>
                  <a:srgbClr val="FF0000"/>
                </a:solidFill>
              </a:rPr>
              <a:t>结果</a:t>
            </a:r>
            <a:r>
              <a:t>：</a:t>
            </a:r>
          </a:p>
          <a:p>
            <a:pPr algn="l">
              <a:defRPr sz="2000">
                <a:solidFill>
                  <a:srgbClr val="323232"/>
                </a:solidFill>
              </a:defRPr>
            </a:pPr>
            <a:r>
              <a:t>开源 LLM 在标准数据集上的最高准确率为 74.9%，但在困难数据集上性能显著下降至 45.8%。</a:t>
            </a:r>
          </a:p>
          <a:p>
            <a:pPr algn="l">
              <a:defRPr sz="2000">
                <a:solidFill>
                  <a:srgbClr val="323232"/>
                </a:solidFill>
              </a:defRPr>
            </a:pPr>
            <a:r>
              <a:t>相比之下，人类参与者在 StrucText-Eval-Hard 上的准确率达到了 92.6%，</a:t>
            </a:r>
          </a:p>
          <a:p>
            <a:pPr algn="l">
              <a:defRPr sz="2000">
                <a:solidFill>
                  <a:srgbClr val="323232"/>
                </a:solidFill>
              </a:defRPr>
            </a:pPr>
            <a:r>
              <a:t>凸显了 LLM 在处理复杂结构信息方面的当前局限性。</a:t>
            </a:r>
          </a:p>
          <a:p>
            <a:pPr algn="l"/>
          </a:p>
          <a:p>
            <a:pPr algn="l"/>
          </a:p>
        </p:txBody>
      </p:sp>
      <p:pic>
        <p:nvPicPr>
          <p:cNvPr id="4" name="Picture 3" descr="tmphnizkl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125" y="0"/>
            <a:ext cx="725569" cy="662493"/>
          </a:xfrm>
          <a:prstGeom prst="rect">
            <a:avLst/>
          </a:prstGeom>
        </p:spPr>
      </p:pic>
      <p:pic>
        <p:nvPicPr>
          <p:cNvPr id="5" name="Picture 4" descr="tmplgoms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377" y="49428"/>
            <a:ext cx="605064" cy="6057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70483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StrucText-Eval：不只是一个新数据集，而是一次系统性挑战</a:t>
            </a:r>
          </a:p>
        </p:txBody>
      </p:sp>
      <p:pic>
        <p:nvPicPr>
          <p:cNvPr id="7" name="Picture 6" descr="tmphnizkl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125" y="0"/>
            <a:ext cx="725569" cy="662493"/>
          </a:xfrm>
          <a:prstGeom prst="rect">
            <a:avLst/>
          </a:prstGeom>
        </p:spPr>
      </p:pic>
      <p:pic>
        <p:nvPicPr>
          <p:cNvPr id="8" name="Picture 7" descr="tmplgoms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377" y="49428"/>
            <a:ext cx="605064" cy="60578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55" y="2305050"/>
            <a:ext cx="7458710" cy="33166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2315" y="1072515"/>
            <a:ext cx="8903970" cy="8756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500"/>
              </a:spcBef>
              <a:spcAft>
                <a:spcPts val="700"/>
              </a:spcAft>
            </a:pPr>
            <a:r>
              <a:rPr lang="en-US" altLang="zh-CN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</a:t>
            </a:r>
            <a:r>
              <a:rPr lang="en-US" altLang="zh-CN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种结构化语言，挑战模型的“通用性”</a:t>
            </a:r>
            <a:endParaRPr lang="zh-CN" altLang="en-US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just">
              <a:spcBef>
                <a:spcPts val="1100"/>
              </a:spcBef>
              <a:spcAft>
                <a:spcPts val="1100"/>
              </a:spcAft>
            </a:pP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StrucText-Eval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涵盖了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种结构化语言，分为</a:t>
            </a:r>
            <a:r>
              <a:rPr lang="zh-CN" altLang="en-US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zh-CN" altLang="en-US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半结构化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两类：</a:t>
            </a:r>
            <a:endParaRPr lang="zh-CN" altLang="en-US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3069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StrucText-Eval定义了8大类共29种任务</a:t>
            </a:r>
          </a:p>
        </p:txBody>
      </p:sp>
      <p:pic>
        <p:nvPicPr>
          <p:cNvPr id="4" name="Picture 3" descr="tmphnizkl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125" y="0"/>
            <a:ext cx="725569" cy="662493"/>
          </a:xfrm>
          <a:prstGeom prst="rect">
            <a:avLst/>
          </a:prstGeom>
        </p:spPr>
      </p:pic>
      <p:pic>
        <p:nvPicPr>
          <p:cNvPr id="5" name="Picture 4" descr="tmplgoms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377" y="49428"/>
            <a:ext cx="605064" cy="60578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95" y="1184275"/>
            <a:ext cx="8060690" cy="37674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789670" y="1678305"/>
            <a:ext cx="2411095" cy="3413760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StrucText-Eval定义了8大类共29种任务，每类任务都针对特定的结构操作能力</a:t>
            </a:r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endParaRPr lang="zh-CN" altLang="en-US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这些任务的设计极具巧思：它们剥离了语义内容，使用抽象节点（如"a", "b", "c"），确保模型必须依赖结构本身进行推理，而非利用语义联想。</a:t>
            </a:r>
            <a:endParaRPr lang="zh-CN" altLang="en-US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08139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StrucText-Eval</a:t>
            </a:r>
            <a:r>
              <a:rPr lang="zh-CN"/>
              <a:t>对比其他</a:t>
            </a:r>
            <a:r>
              <a:rPr lang="en-US" altLang="zh-CN"/>
              <a:t>Benchmark</a:t>
            </a:r>
            <a:endParaRPr lang="en-US" altLang="zh-CN"/>
          </a:p>
        </p:txBody>
      </p:sp>
      <p:pic>
        <p:nvPicPr>
          <p:cNvPr id="4" name="Picture 3" descr="tmphnizkl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125" y="0"/>
            <a:ext cx="725569" cy="662493"/>
          </a:xfrm>
          <a:prstGeom prst="rect">
            <a:avLst/>
          </a:prstGeom>
        </p:spPr>
      </p:pic>
      <p:pic>
        <p:nvPicPr>
          <p:cNvPr id="5" name="Picture 4" descr="tmplgoms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377" y="49428"/>
            <a:ext cx="605064" cy="60578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1325"/>
            <a:ext cx="10803255" cy="2825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761230" cy="8445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rPr>
                <a:sym typeface="+mn-ea"/>
              </a:rPr>
              <a:t>自动化生成：可控复杂度，无限扩展</a:t>
            </a:r>
            <a:endParaRPr>
              <a:sym typeface="+mn-ea"/>
            </a:endParaRPr>
          </a:p>
        </p:txBody>
      </p:sp>
      <p:pic>
        <p:nvPicPr>
          <p:cNvPr id="7" name="Picture 6" descr="tmphnizkl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125" y="0"/>
            <a:ext cx="725569" cy="662493"/>
          </a:xfrm>
          <a:prstGeom prst="rect">
            <a:avLst/>
          </a:prstGeom>
        </p:spPr>
      </p:pic>
      <p:pic>
        <p:nvPicPr>
          <p:cNvPr id="8" name="Picture 7" descr="tmplgoms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377" y="49428"/>
            <a:ext cx="605064" cy="60578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323330" y="1350645"/>
            <a:ext cx="5203190" cy="5248910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StrucText-Eval的另一大创新在于其自动化生成方法。传统评测集依赖人工标注，成本高、规模小、易被模型“记忆”。而StrucText-Eval通过以下三步实现自动化：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构建抽象结构树：定义深度（Depth）、宽度（Width）、列数（Col）等参数，控制复杂度。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编写问题模板：为每类任务预设规则化的问题生成逻辑。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算法化生成答案：基于结构规则自动推导“Ground Truth”。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endParaRPr 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endParaRPr 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r>
              <a:rPr 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图2：StrucText-Eval数据生成流程示意图（以JSON PathCompose为例）</a:t>
            </a:r>
            <a:endParaRPr 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r>
              <a:rPr 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从抽象树到语言实例，再到问题与答案的生成，整个过程完全可控，确保了数据的多样性与可扩展性。</a:t>
            </a:r>
            <a:endParaRPr 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endParaRPr 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r>
              <a:rPr 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这种设计使得StrucText-Eval可以轻松生成任意复杂度的样本，为未来研究提供了坚实基础。</a:t>
            </a:r>
            <a:endParaRPr 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55" y="999490"/>
            <a:ext cx="4420870" cy="5858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78866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测试集：从“标准”到“地狱难度”</a:t>
            </a:r>
          </a:p>
        </p:txBody>
      </p:sp>
      <p:pic>
        <p:nvPicPr>
          <p:cNvPr id="4" name="Picture 3" descr="tmphnizkl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125" y="0"/>
            <a:ext cx="725569" cy="662493"/>
          </a:xfrm>
          <a:prstGeom prst="rect">
            <a:avLst/>
          </a:prstGeom>
        </p:spPr>
      </p:pic>
      <p:pic>
        <p:nvPicPr>
          <p:cNvPr id="5" name="Picture 4" descr="tmplgoms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377" y="49428"/>
            <a:ext cx="605064" cy="60578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96480" y="1715770"/>
            <a:ext cx="3699510" cy="4505325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StrucText‑Eval 包含三个测试集：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Test：3712 条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Real‑Test：928 条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Test‑Hard：2088 条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由于 Test 集问题是使用基于规则的生成方式创建的，我们从中选择了 928 个问题，并使用真实世界的示例重写它们，形成 Real-Test 集，使其更接近 LLM 理解结构化文本的实际需求。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Test‑Hard 平均长度 16535 字符，最长达 102531 字符，显著拉开模型与人类的结构理解差距。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70" y="857885"/>
            <a:ext cx="5468620" cy="564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161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zh-CN"/>
              <a:t>模型</a:t>
            </a:r>
            <a:r>
              <a:t>设置</a:t>
            </a:r>
          </a:p>
        </p:txBody>
      </p:sp>
      <p:pic>
        <p:nvPicPr>
          <p:cNvPr id="4" name="Picture 3" descr="tmphnizkl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125" y="0"/>
            <a:ext cx="725569" cy="662493"/>
          </a:xfrm>
          <a:prstGeom prst="rect">
            <a:avLst/>
          </a:prstGeom>
        </p:spPr>
      </p:pic>
      <p:pic>
        <p:nvPicPr>
          <p:cNvPr id="5" name="Picture 4" descr="tmplgoms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377" y="49428"/>
            <a:ext cx="605064" cy="60578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93445" y="1094740"/>
            <a:ext cx="9172575" cy="5152390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spcBef>
                <a:spcPct val="0"/>
              </a:spcBef>
            </a:pPr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在 </a:t>
            </a: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StrucText-Eval </a:t>
            </a:r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测试集和 </a:t>
            </a: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Test-Hard</a:t>
            </a:r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（高难度）测试集上测试了六个开源大型语言模型，并在实验中使用这些模型的简称（括号内）：</a:t>
            </a:r>
            <a:endParaRPr lang="zh-CN" altLang="en-US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Qwen/Qwen2-7B-Instruct (Qwen-2-7B)</a:t>
            </a:r>
            <a:endParaRPr lang="en-US" alt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Qwen/Qwen2-72B-Instruct (Qwen-2-72B)</a:t>
            </a:r>
            <a:endParaRPr lang="en-US" alt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meta-llama/Meta-Llama-3.1-8B-Instruct (Llama-3.1-8B)</a:t>
            </a:r>
            <a:endParaRPr lang="en-US" alt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meta-llama/Meta-Llama-3.1-72B-Instruct (Llama-3.1-70B)</a:t>
            </a:r>
            <a:endParaRPr lang="en-US" alt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meta-llama/Meta-Llama-3.1-405B-Instruct (Llama-3.1-405B)</a:t>
            </a:r>
            <a:endParaRPr lang="en-US" alt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mistralai/Mistral-7B-Instruct-v0.2 (Mistral-0.2-7B)</a:t>
            </a:r>
            <a:endParaRPr lang="en-US" alt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</a:pPr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考虑到使用 </a:t>
            </a: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API </a:t>
            </a:r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模型的费用极其高昂，我们仅在 </a:t>
            </a: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StrucText-Eval-Hard</a:t>
            </a:r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（高难度）测试集上测试了六个闭源大型语言模型：</a:t>
            </a:r>
            <a:endParaRPr lang="zh-CN" altLang="en-US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gpt-4o-2024-08-06 (gpt-4o)</a:t>
            </a:r>
            <a:endParaRPr lang="en-US" alt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gpt-4o-mini-2024-07-18 (gpt-4omini)</a:t>
            </a:r>
            <a:endParaRPr lang="en-US" alt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gemini-1.5-pro (gemini-1.5-pro)</a:t>
            </a:r>
            <a:endParaRPr lang="en-US" alt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gemini-1.5-flash (gemini-1.5-flash)</a:t>
            </a:r>
            <a:endParaRPr lang="en-US" alt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GLM-4-Plus (glm-4-plus)</a:t>
            </a:r>
            <a:endParaRPr lang="en-US" alt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GLM-4-Flash (glm-4-flash)</a:t>
            </a:r>
            <a:endParaRPr lang="en-US" altLang="zh-CN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85762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zh-CN"/>
              <a:t>提示工程与评估</a:t>
            </a:r>
            <a:r>
              <a:rPr lang="zh-CN"/>
              <a:t>指标</a:t>
            </a:r>
            <a:endParaRPr lang="zh-CN"/>
          </a:p>
        </p:txBody>
      </p:sp>
      <p:pic>
        <p:nvPicPr>
          <p:cNvPr id="4" name="Picture 3" descr="tmphnizkl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125" y="0"/>
            <a:ext cx="725569" cy="662493"/>
          </a:xfrm>
          <a:prstGeom prst="rect">
            <a:avLst/>
          </a:prstGeom>
        </p:spPr>
      </p:pic>
      <p:pic>
        <p:nvPicPr>
          <p:cNvPr id="5" name="Picture 4" descr="tmplgoms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377" y="49428"/>
            <a:ext cx="605064" cy="6057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9610" y="1585595"/>
            <a:ext cx="9218930" cy="1843405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采用 6 种提示配置：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Naive：直接输入上下文、问题、选项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Self‑CoT：分步推理提示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Plan‑and‑Solve CoT（PS‑CoT）：先分解问题再求解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With Hint：加入人工设计的提示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Few‑Shot：追加少量示例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Simple Few‑Shot：仅用最短示例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buFont typeface="Arial" panose="020B0604020202020204"/>
              <a:buChar char="•"/>
            </a:pP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buFont typeface="Arial" panose="020B0604020202020204"/>
              <a:buChar char="•"/>
            </a:pP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buFont typeface="Arial" panose="020B0604020202020204"/>
              <a:buChar char="•"/>
            </a:pP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主指标采用RougeL，RougeL 低于 0.75 记为 0 分；同时报告 LLM‑as‑Judge、BLEU、Exact Match（EM）指标。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buFont typeface="Arial" panose="020B0604020202020204"/>
              <a:buChar char="•"/>
            </a:pPr>
            <a:endParaRPr lang="zh-CN" altLang="en-US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buFont typeface="Arial" panose="020B0604020202020204"/>
              <a:buNone/>
            </a:pPr>
            <a:endParaRPr lang="zh-CN" altLang="en-US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3460" y="71828"/>
            <a:ext cx="46723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  <a:defRPr sz="3200" b="1">
                <a:solidFill>
                  <a:srgbClr val="003366"/>
                </a:solidFill>
              </a:defRPr>
            </a:pPr>
            <a:r>
              <a:rPr sz="3200">
                <a:sym typeface="+mn-ea"/>
              </a:rPr>
              <a:t>StrucText-Eval 的整体表现</a:t>
            </a:r>
            <a:endParaRPr sz="3200">
              <a:sym typeface="+mn-ea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5815" y="179"/>
            <a:ext cx="725550" cy="662458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066" y="49604"/>
            <a:ext cx="605048" cy="6057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0410" y="784225"/>
            <a:ext cx="9439910" cy="525780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表</a:t>
            </a:r>
            <a:r>
              <a:rPr 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展示了 </a:t>
            </a: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StrucText-Eval </a:t>
            </a:r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的整体表现，揭示了不同模型</a:t>
            </a:r>
            <a:endParaRPr lang="zh-CN" altLang="en-US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在各种语言和任务上的表现存在显著差异。</a:t>
            </a:r>
            <a:endParaRPr lang="zh-CN" altLang="en-US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1438910"/>
            <a:ext cx="9906000" cy="50711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096"/>
    </mc:Choice>
    <mc:Fallback>
      <p:transition spd="slow" advTm="44096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3460" y="71828"/>
            <a:ext cx="55791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rPr>
                <a:sym typeface="+mn-ea"/>
              </a:rPr>
              <a:t>StrucText-Eval Hard 的整体表现</a:t>
            </a:r>
            <a:endParaRPr sz="3200">
              <a:sym typeface="+mn-ea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5815" y="179"/>
            <a:ext cx="725550" cy="662458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066" y="49604"/>
            <a:ext cx="605048" cy="6057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0410" y="784225"/>
            <a:ext cx="9439910" cy="525780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展示了各种模型在 StrucText-Eval Hard 数据集上的表现，该数据集的特点是任务更复杂、序列更长、结构更深。这种复杂性导致所有模型的性能显著下降。</a:t>
            </a:r>
            <a:endParaRPr lang="zh-CN" altLang="en-US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670" y="1438910"/>
            <a:ext cx="8327390" cy="49079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096"/>
    </mc:Choice>
    <mc:Fallback>
      <p:transition spd="slow" advTm="44096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161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ClrTx/>
              <a:buSzTx/>
              <a:buFontTx/>
              <a:defRPr sz="3200" b="1">
                <a:solidFill>
                  <a:srgbClr val="003366"/>
                </a:solidFill>
              </a:defRPr>
            </a:pPr>
            <a:r>
              <a:rPr>
                <a:sym typeface="+mn-ea"/>
              </a:rPr>
              <a:t>整体表现</a:t>
            </a:r>
          </a:p>
        </p:txBody>
      </p:sp>
      <p:pic>
        <p:nvPicPr>
          <p:cNvPr id="4" name="Picture 3" descr="tmphnizkl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125" y="0"/>
            <a:ext cx="725569" cy="662493"/>
          </a:xfrm>
          <a:prstGeom prst="rect">
            <a:avLst/>
          </a:prstGeom>
        </p:spPr>
      </p:pic>
      <p:pic>
        <p:nvPicPr>
          <p:cNvPr id="5" name="Picture 4" descr="tmplgoms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377" y="49428"/>
            <a:ext cx="605064" cy="6057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2765" y="857885"/>
            <a:ext cx="8573135" cy="5401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整体表现：强者恒强，格式差异明显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表现最佳：Qwen2-72B-Instruct 表现最为出色，特别是在 JSON 任务上（准确率 85.8%），在 YAML 和 CSV 上也成绩显著。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表现较弱：相比之下，Llama-3.1-8B 等较小参数量的模型表现较差，特别是在 LaTeX 等任务上准确率较低。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提示策略的影响：人工提示优于自主推理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人工提示有效：引入人工推理规则的提示（w/ Hint）通常能显著提升性能（例如 Llama-3.1-70B 提升了约 9.5%），因为它弥补了模型推理能力的不足。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思维链的副作用：令人意外的是，Self-CoT（自我思维链）和 PS-CoT 等鼓励自主推理的方法，在处理 XML 和 Tree 等复杂结构时，反而导致 Qwen2-7B 等模型表现下降。这是因为模型自主生成的推理路径容易出现逻辑错误。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难度升级后的表现：性能大幅跳水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Hard 数据集挑战：当面对结构更深、序列更长的 StrucText-Eval Hard 数据集时，所有模型的性能都显著下降。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例如：Qwen2-72B 从 78.4% 降至 65.0%；Llama-3.1-70B 更是从 75.4% 暴跌至 43.2%。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人机差距巨大：人类在该数据集上的准确率高达 95.7%，远超最强的大模型，说明模型在处理深度嵌套和复杂推理任务时，仍远未达到人类水平。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6327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核心原因分析</a:t>
            </a:r>
          </a:p>
        </p:txBody>
      </p:sp>
      <p:pic>
        <p:nvPicPr>
          <p:cNvPr id="4" name="Picture 3" descr="tmphnizkl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125" y="0"/>
            <a:ext cx="725569" cy="662493"/>
          </a:xfrm>
          <a:prstGeom prst="rect">
            <a:avLst/>
          </a:prstGeom>
        </p:spPr>
      </p:pic>
      <p:pic>
        <p:nvPicPr>
          <p:cNvPr id="5" name="Picture 4" descr="tmplgoms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377" y="49428"/>
            <a:ext cx="605064" cy="60578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67080" y="1193165"/>
            <a:ext cx="11248390" cy="5063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作者将上述现象归结为两个主要原因：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训练数据偏差：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模型在 JSON 上表现好，是因为互联网训练数据中 JSON 格式非常丰富。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模型在复杂结构（如深度嵌套的树）上表现差，是因为训练数据多为简单的结构化文本，缺乏处理高难度推理的样本。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提示方法的局限性：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虽然“w/ Hint”有帮助，但在极复杂的场景下仍无法达到人类的理解深度。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自主推理（CoT）在缺乏足够训练基础的情况下，容易产生幻觉和逻辑谬误。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94067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不同模型在不同深度与宽度下的性能热力图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1215" y="4611370"/>
            <a:ext cx="8983980" cy="17443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难度的影响：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随着深度和宽度增加，所有模型性能显著下降，且方差增大，说明StrucText-Eval能有效区分模型能力边界。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215" y="857885"/>
            <a:ext cx="9389110" cy="38309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08254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各种评估指标之间的相关性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265" y="1061720"/>
            <a:ext cx="6019800" cy="47339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70065" y="1891030"/>
            <a:ext cx="4636135" cy="3074670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RougeL</a:t>
            </a:r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表现突出，与人类评判的相关性为</a:t>
            </a: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0.9932</a:t>
            </a:r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，表明它在捕捉表面文本相似性的同时，与人类判断保持高度一致性。与更严格的精确匹配和相关性相对较低的</a:t>
            </a: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BLEU</a:t>
            </a:r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相比，</a:t>
            </a:r>
            <a:r>
              <a:rPr lang="en-US" altLang="zh-CN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RougeL</a:t>
            </a:r>
            <a:r>
              <a:rPr lang="zh-CN" altLang="en-US"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在文本相似性和评估准确性之间提供了更好的平衡。</a:t>
            </a:r>
            <a:endParaRPr lang="zh-CN" altLang="en-US"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550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StrucText-Eval测试集与真实测试集的性能对比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540500" y="1341120"/>
            <a:ext cx="4711700" cy="4004945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spcBef>
                <a:spcPct val="0"/>
              </a:spcBef>
            </a:pPr>
            <a:endParaRPr lang="zh-CN" altLang="en-US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745" y="857885"/>
            <a:ext cx="8842375" cy="51911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94067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人类与大语言模型在不同能力上的性能差距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6470"/>
            <a:ext cx="11269980" cy="41643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4200" y="5340985"/>
            <a:ext cx="10515600" cy="1274445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类在PathWalk（路径提取）和TextRetrieval（文本检索）上准确率超95%，远超模型。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GPT-4在Join（关联查询）和Statistic（统计计算）上表现优异，接近人类水平。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这说明：人类擅长“理解结构并定位”，而LLM擅长“执行规则化计算”。未来的人机协作，应是两者的互补，而非单方面的替代。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/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6368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 StrucText-Eval的意义：不只是评测，更是方向指引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41680" y="1503680"/>
            <a:ext cx="8905240" cy="3202305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StrucText-Eval的价值远超一个评测集。它揭示了当前LLM研究的几个关键问题：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训练数据偏见：模型在高频格式（JSON）上表现好，但在低频格式（YAML、Org）上表现差，说明其“理解”是统计性的，而非抽象的。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推理深度不足：随着嵌套深度增加，性能急剧下降，说明模型缺乏真正的递归推理能力。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提示工程局限：现有提示方法难以弥补模型内在推理能力的缺失。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评估标准需革新：RougeL与人类判断高度相关（0.9932），而Exact Match过于严格，未来应采用更灵活的评估方式。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908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 未来展望：我们该如何构建“真正理解结构”的AI？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81380" y="1656080"/>
            <a:ext cx="8905240" cy="3202305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StrucText-Eval像一记警钟，提醒我们：当前的LLM还远未达到“理解”结构的水平。未来的方向可能包括：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结构感知预训练：在预训练阶段显式引入结构解析任务，而非依赖隐式学习。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符号-神经混合架构：结合符号推理引擎与神经网络，提升复杂逻辑处理能力。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动态复杂度评估：根据任务复杂度自动调整推理策略，而非固定提示。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060A26"/>
                </a:solidFill>
                <a:latin typeface="微软雅黑" panose="020B0503020204020204" charset="-122"/>
                <a:ea typeface="微软雅黑" panose="020B0503020204020204" charset="-122"/>
              </a:rPr>
              <a:t>跨格式迁移学习：让模型学会“一种结构，多种表达”，提升泛化能力。</a:t>
            </a:r>
            <a:endParaRPr sz="1600" b="0" i="0">
              <a:solidFill>
                <a:srgbClr val="060A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003366"/>
                </a:solidFill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谢谢！欢迎提问</a:t>
            </a:r>
          </a:p>
        </p:txBody>
      </p:sp>
      <p:pic>
        <p:nvPicPr>
          <p:cNvPr id="4" name="Picture 3" descr="tmpoa424q6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138" y="5427054"/>
            <a:ext cx="3657508" cy="7526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IMING" val="|27.3|9.9|3.3"/>
</p:tagLst>
</file>

<file path=ppt/tags/tag2.xml><?xml version="1.0" encoding="utf-8"?>
<p:tagLst xmlns:p="http://schemas.openxmlformats.org/presentationml/2006/main">
  <p:tag name="TIMING" val="|27.3|9.9|3.3"/>
</p:tagLst>
</file>

<file path=ppt/tags/tag3.xml><?xml version="1.0" encoding="utf-8"?>
<p:tagLst xmlns:p="http://schemas.openxmlformats.org/presentationml/2006/main">
  <p:tag name="commondata" val="eyJoZGlkIjoiOTkxMjU0M2U2NDQ0MDljN2I4YjZiMWYwYTY0MjZhNjg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4077</Words>
  <Application>WPS 演示</Application>
  <PresentationFormat>On-screen Show (4:3)</PresentationFormat>
  <Paragraphs>181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-apple-system</vt:lpstr>
      <vt:lpstr>Segoe Print</vt:lpstr>
      <vt:lpstr>Office Theme</vt:lpstr>
      <vt:lpstr>StrucText-Eval: Evaluating Large Language Model’s Reasoning Ability in Structure-Rich Text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程晓军</cp:lastModifiedBy>
  <cp:revision>17</cp:revision>
  <dcterms:created xsi:type="dcterms:W3CDTF">2026-04-06T11:31:00Z</dcterms:created>
  <dcterms:modified xsi:type="dcterms:W3CDTF">2026-04-27T08:47:01Z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0618C3D97D7144C9B23B27E2ED80F9E6_12</vt:lpwstr>
  </property>
  <property fmtid="{D5CDD505-2E9C-101B-9397-08002B2CF9AE}" pid="3" name="KSOProductBuildVer">
    <vt:lpwstr>2052-12.1.0.18276</vt:lpwstr>
  </property>
</Properties>
</file>